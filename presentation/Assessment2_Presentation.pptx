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6202A"/>
                </a:solidFill>
                <a:latin typeface="Arial"/>
              </a:defRPr>
            </a:pPr>
            <a:r>
              <a:rPr sz="1400" b="0" i="0" u="none" strike="noStrike">
                <a:solidFill>
                  <a:srgbClr val="16202A"/>
                </a:solidFill>
                <a:latin typeface="Arial"/>
              </a:rPr>
              <a:t>Delay class balance (%)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is_delayed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C7293"/>
              </a:solidFill>
              <a:effectLst/>
            </c:spPr>
          </c:dPt>
          <c:dPt>
            <c:idx val="1"/>
            <c:bubble3D val="0"/>
            <c:spPr>
              <a:solidFill>
                <a:srgbClr val="E8A33D"/>
              </a:solidFill>
              <a:effectLst/>
            </c:spPr>
          </c:dPt>
          <c:dLbls>
            <c:dLbl>
              <c:idx val="0"/>
              <c:numFmt formatCode="0.0&quot;%&quot;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0.0&quot;%&quot;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.0&quot;%&quot;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On-time</c:v>
                </c:pt>
                <c:pt idx="1">
                  <c:v>Delayed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71.1</c:v>
                </c:pt>
                <c:pt idx="1">
                  <c:v>28.9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6202A"/>
                </a:solidFill>
                <a:latin typeface="Arial"/>
              </a:defRPr>
            </a:pPr>
            <a:r>
              <a:rPr sz="1400" b="0" i="0" u="none" strike="noStrike">
                <a:solidFill>
                  <a:srgbClr val="16202A"/>
                </a:solidFill>
                <a:latin typeface="Arial"/>
              </a:rPr>
              <a:t>Carrier on-time rate (%)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On-time %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DHL Express</c:v>
                  </c:pt>
                  <c:pt idx="1">
                    <c:v>FedEx</c:v>
                  </c:pt>
                  <c:pt idx="2">
                    <c:v>UPS</c:v>
                  </c:pt>
                  <c:pt idx="3">
                    <c:v>DB Schenker</c:v>
                  </c:pt>
                  <c:pt idx="4">
                    <c:v>Maersk Line</c:v>
                  </c:pt>
                  <c:pt idx="5">
                    <c:v>Local Courier Co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74.8</c:v>
                </c:pt>
                <c:pt idx="1">
                  <c:v>74.1</c:v>
                </c:pt>
                <c:pt idx="2">
                  <c:v>73.7</c:v>
                </c:pt>
                <c:pt idx="3">
                  <c:v>71.1</c:v>
                </c:pt>
                <c:pt idx="4">
                  <c:v>66.6</c:v>
                </c:pt>
                <c:pt idx="5">
                  <c:v>62.7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b"/>
        <c:majorGridlines>
          <c:spPr>
            <a:ln w="6350" cap="flat">
              <a:solidFill>
                <a:srgbClr val="E1E0D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6202A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6202A"/>
                </a:solidFill>
                <a:latin typeface="Arial"/>
              </a:rPr>
              <a:t>Delay rate by region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Delay rate %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North America</c:v>
                  </c:pt>
                  <c:pt idx="1">
                    <c:v>Europe</c:v>
                  </c:pt>
                  <c:pt idx="2">
                    <c:v>Asia Pacific</c:v>
                  </c:pt>
                  <c:pt idx="3">
                    <c:v>Latin America</c:v>
                  </c:pt>
                  <c:pt idx="4">
                    <c:v>Africa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30.4</c:v>
                </c:pt>
                <c:pt idx="1">
                  <c:v>29.9</c:v>
                </c:pt>
                <c:pt idx="2">
                  <c:v>28.5</c:v>
                </c:pt>
                <c:pt idx="3">
                  <c:v>27.9</c:v>
                </c:pt>
                <c:pt idx="4">
                  <c:v>27.8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26.5"/>
        </c:scaling>
        <c:delete val="0"/>
        <c:axPos val="l"/>
        <c:majorGridlines>
          <c:spPr>
            <a:ln w="6350" cap="flat">
              <a:solidFill>
                <a:srgbClr val="E1E0D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6202A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6202A"/>
                </a:solidFill>
                <a:latin typeface="Arial"/>
              </a:rPr>
              <a:t>Avg delay by distance category (days)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delay (days)</c:v>
                </c:pt>
              </c:strCache>
            </c:strRef>
          </c:tx>
          <c:spPr>
            <a:solidFill>
              <a:srgbClr val="E8A33D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Local</c:v>
                  </c:pt>
                  <c:pt idx="1">
                    <c:v>Regional</c:v>
                  </c:pt>
                  <c:pt idx="2">
                    <c:v>Long-Haul</c:v>
                  </c:pt>
                  <c:pt idx="3">
                    <c:v>International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0.417</c:v>
                </c:pt>
                <c:pt idx="1">
                  <c:v>0.397</c:v>
                </c:pt>
                <c:pt idx="2">
                  <c:v>0.392</c:v>
                </c:pt>
                <c:pt idx="3">
                  <c:v>0.366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1E0D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-2011680"/>
            <a:ext cx="6400800" cy="6400800"/>
          </a:xfrm>
          <a:prstGeom prst="ellipse">
            <a:avLst/>
          </a:prstGeom>
          <a:solidFill>
            <a:srgbClr val="065A82">
              <a:alpha val="6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3474720"/>
            <a:ext cx="3840480" cy="3840480"/>
          </a:xfrm>
          <a:prstGeom prst="ellipse">
            <a:avLst/>
          </a:prstGeom>
          <a:solidFill>
            <a:srgbClr val="1C7293">
              <a:alpha val="5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371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2  ·  TOPIC 9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828800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Supply Chain Logistics Pipeline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731520" y="288036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End-to-End Data Engineering Pipeline for Delivery-Delay Prediction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731520" y="56235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Motty  ·  DxValley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59893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raw logistics data to an ML-ready dataset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F2F7FA"/>
          </a:solidFill>
          <a:ln/>
          <a:effectLst>
            <a:outerShdw sx="100000" sy="100000" kx="0" ky="0" algn="bl" rotWithShape="0" blurRad="76200" dist="25400" dir="5400000">
              <a:srgbClr val="9AAAB5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901952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77240" y="2450592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Objectives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43400" y="173736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F2F7FA"/>
          </a:solidFill>
          <a:ln/>
          <a:effectLst>
            <a:outerShdw sx="100000" sy="100000" kx="0" ky="0" algn="bl" rotWithShape="0" blurRad="76200" dist="25400" dir="5400000">
              <a:srgbClr val="9AAAB5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0" y="1901952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572000" y="2450592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138160" y="173736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F2F7FA"/>
          </a:solidFill>
          <a:ln/>
          <a:effectLst>
            <a:outerShdw sx="100000" sy="100000" kx="0" ky="0" algn="bl" rotWithShape="0" blurRad="76200" dist="25400" dir="5400000">
              <a:srgbClr val="9AAAB5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366760" y="1901952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8366760" y="2450592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&amp; Storage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38328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F2F7FA"/>
          </a:solidFill>
          <a:ln/>
          <a:effectLst>
            <a:outerShdw sx="100000" sy="100000" kx="0" ky="0" algn="bl" rotWithShape="0" blurRad="76200" dist="25400" dir="5400000">
              <a:srgbClr val="9AAAB5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77240" y="3547872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777240" y="4096512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&amp; Feature Engineering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343400" y="338328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F2F7FA"/>
          </a:solidFill>
          <a:ln/>
          <a:effectLst>
            <a:outerShdw sx="100000" sy="100000" kx="0" ky="0" algn="bl" rotWithShape="0" blurRad="76200" dist="25400" dir="5400000">
              <a:srgbClr val="9AAAB5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572000" y="3547872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4572000" y="4096512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&amp; Orchestration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138160" y="338328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F2F7FA"/>
          </a:solidFill>
          <a:ln/>
          <a:effectLst>
            <a:outerShdw sx="100000" sy="100000" kx="0" ky="0" algn="bl" rotWithShape="0" blurRad="76200" dist="25400" dir="5400000">
              <a:srgbClr val="9AAAB5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366760" y="3547872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8366760" y="4096512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Versioning &amp; Results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48640" y="502920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F2F7FA"/>
          </a:solidFill>
          <a:ln/>
          <a:effectLst>
            <a:outerShdw sx="100000" sy="100000" kx="0" ky="0" algn="bl" rotWithShape="0" blurRad="76200" dist="25400" dir="5400000">
              <a:srgbClr val="9AAAB5">
                <a:alpha val="2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77240" y="5193792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777240" y="5742432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Findings, Challenges &amp; Next Steps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2 · Supply Chain Logistics Pipeline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OBJECTIVES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Late deliveries are a data problem before they're a logistics problem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5778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order and carrier-tracking data is inconsistent, incomplete, and carries no engineered signal for delay risk. This project builds the full pipeline that turns it into a trustworthy, ML-ready dataset for predicting delivery delay.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3364992"/>
            <a:ext cx="164592" cy="164592"/>
          </a:xfrm>
          <a:prstGeom prst="ellipse">
            <a:avLst/>
          </a:prstGeom>
          <a:solidFill>
            <a:srgbClr val="1E8E5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324612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2+ ingestion sources (file + REST API)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840480"/>
            <a:ext cx="164592" cy="164592"/>
          </a:xfrm>
          <a:prstGeom prst="ellipse">
            <a:avLst/>
          </a:prstGeom>
          <a:solidFill>
            <a:srgbClr val="1E8E5A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3721608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2+ storage formats (SQLite + Parquet)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4315968"/>
            <a:ext cx="164592" cy="164592"/>
          </a:xfrm>
          <a:prstGeom prst="ellipse">
            <a:avLst/>
          </a:prstGeom>
          <a:solidFill>
            <a:srgbClr val="1E8E5A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4197096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10+ engineered features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4791456"/>
            <a:ext cx="164592" cy="164592"/>
          </a:xfrm>
          <a:prstGeom prst="ellipse">
            <a:avLst/>
          </a:prstGeom>
          <a:solidFill>
            <a:srgbClr val="1E8E5A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4672584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Expectations quality gate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5266944"/>
            <a:ext cx="164592" cy="164592"/>
          </a:xfrm>
          <a:prstGeom prst="ellipse">
            <a:avLst/>
          </a:prstGeom>
          <a:solidFill>
            <a:srgbClr val="1E8E5A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5148072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PySpark aggregations &amp; window functions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5742432"/>
            <a:ext cx="164592" cy="164592"/>
          </a:xfrm>
          <a:prstGeom prst="ellipse">
            <a:avLst/>
          </a:prstGeom>
          <a:solidFill>
            <a:srgbClr val="1E8E5A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562356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Airflow orchestration, DVC versioning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92240" y="1600200"/>
            <a:ext cx="5120640" cy="4434840"/>
          </a:xfrm>
          <a:prstGeom prst="roundRect">
            <a:avLst>
              <a:gd name="adj" fmla="val 2062"/>
            </a:avLst>
          </a:prstGeom>
          <a:solidFill>
            <a:srgbClr val="21295C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0" y="196596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103,548</a:t>
            </a:r>
            <a:endParaRPr lang="en-US" sz="4600" dirty="0"/>
          </a:p>
        </p:txBody>
      </p:sp>
      <p:sp>
        <p:nvSpPr>
          <p:cNvPr id="19" name="Text 17"/>
          <p:cNvSpPr/>
          <p:nvPr/>
        </p:nvSpPr>
        <p:spPr>
          <a:xfrm>
            <a:off x="6766560" y="278892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feature-engineered orders (98.1% retention from 105,525 raw rows)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766560" y="356616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 / 21</a:t>
            </a:r>
            <a:endParaRPr lang="en-US" sz="3800" dirty="0"/>
          </a:p>
        </p:txBody>
      </p:sp>
      <p:sp>
        <p:nvSpPr>
          <p:cNvPr id="21" name="Text 19"/>
          <p:cNvSpPr/>
          <p:nvPr/>
        </p:nvSpPr>
        <p:spPr>
          <a:xfrm>
            <a:off x="6766560" y="42519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Expectations checks passing (100%)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766560" y="489204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7-task DAG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6766560" y="54864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executed end-to-end via Airflow — verified, not just authored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2 · Supply Chain Logistics Pipeline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sources in, one ML-ready dataset out</a:t>
            </a:r>
            <a:endParaRPr lang="en-US" sz="3200" dirty="0"/>
          </a:p>
        </p:txBody>
      </p:sp>
      <p:pic>
        <p:nvPicPr>
          <p:cNvPr id="4" name="Image 0" descr="/home/claude/supply-chain-pipeline/docs/diagrams/architecture_diagram.png">    </p:cNvPr>
          <p:cNvPicPr>
            <a:picLocks noChangeAspect="1"/>
          </p:cNvPicPr>
          <p:nvPr/>
        </p:nvPicPr>
        <p:blipFill>
          <a:blip r:embed="rId1"/>
          <a:srcRect l="-450" r="-450" t="0" b="0"/>
          <a:stretch/>
        </p:blipFill>
        <p:spPr>
          <a:xfrm>
            <a:off x="2788920" y="1417320"/>
            <a:ext cx="6583680" cy="5074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2 · Supply Chain Logistics Pipeline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&amp; STORAGE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independent sources, two storage formats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F2F7FA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74520"/>
            <a:ext cx="4800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 1 — Order CSV export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313432"/>
            <a:ext cx="480060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kaggle_supply_chain_orders.csv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105,525 rows · 25 columns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carrier, distance, cost, delivery windows, destination coordinates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63640" y="169164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F2F7FA"/>
          </a:solidFill>
          <a:ln/>
        </p:spPr>
      </p:sp>
      <p:sp>
        <p:nvSpPr>
          <p:cNvPr id="8" name="Text 6"/>
          <p:cNvSpPr/>
          <p:nvPr/>
        </p:nvSpPr>
        <p:spPr>
          <a:xfrm>
            <a:off x="6537960" y="1874520"/>
            <a:ext cx="4800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 2 — Shipping-Carrier API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37960" y="2313432"/>
            <a:ext cx="480060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Flask REST API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188,299 tracking events, 6 carriers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Paginated, rate-limited, retried on transient 503s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402336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F2F7FA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4206240"/>
            <a:ext cx="4800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Storage format 1 — SQLite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2960" y="4645152"/>
            <a:ext cx="480060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supply_chain_raw.db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Ad-hoc SQL queryability over the raw extract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63640" y="402336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F2F7FA"/>
          </a:solidFill>
          <a:ln/>
        </p:spPr>
      </p:sp>
      <p:sp>
        <p:nvSpPr>
          <p:cNvPr id="14" name="Text 12"/>
          <p:cNvSpPr/>
          <p:nvPr/>
        </p:nvSpPr>
        <p:spPr>
          <a:xfrm>
            <a:off x="6537960" y="4206240"/>
            <a:ext cx="4800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Storage format 2 — Parquet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537960" y="4645152"/>
            <a:ext cx="480060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data/raw/parquet/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Columnar storage feeding Spark &amp; Pandas downstream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2 · Supply Chain Logistics Pipeline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&amp; TRANSFORMATION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98.1% of records survive a real quality pass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F2F7FA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96596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522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77240" y="278892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rows removed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43400" y="173736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F2F7FA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0" y="196596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317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72000" y="278892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malformed dates dropped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138160" y="173736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F2F7FA"/>
          </a:solidFill>
          <a:ln/>
        </p:spPr>
      </p:sp>
      <p:sp>
        <p:nvSpPr>
          <p:cNvPr id="11" name="Text 9"/>
          <p:cNvSpPr/>
          <p:nvPr/>
        </p:nvSpPr>
        <p:spPr>
          <a:xfrm>
            <a:off x="8366760" y="196596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1,138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8366760" y="278892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coordinates removed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93192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F2F7FA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416052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2,120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777240" y="498348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delivery-days imputed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343400" y="393192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F2F7FA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0" y="416052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1,053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4572000" y="498348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shipping-cost imputed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138160" y="393192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065A82"/>
          </a:solidFill>
          <a:ln/>
        </p:spPr>
      </p:sp>
      <p:sp>
        <p:nvSpPr>
          <p:cNvPr id="20" name="Text 18"/>
          <p:cNvSpPr/>
          <p:nvPr/>
        </p:nvSpPr>
        <p:spPr>
          <a:xfrm>
            <a:off x="8366760" y="416052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103,548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8366760" y="498348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rows retained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2 · Supply Chain Logistics Pipeline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domain-relevant features, each with a rationale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86400" cy="777240"/>
          </a:xfrm>
          <a:prstGeom prst="roundRect">
            <a:avLst>
              <a:gd name="adj" fmla="val 7059"/>
            </a:avLst>
          </a:prstGeom>
          <a:solidFill>
            <a:srgbClr val="F2F7FA"/>
          </a:solidFill>
          <a:ln/>
        </p:spPr>
      </p:sp>
      <p:sp>
        <p:nvSpPr>
          <p:cNvPr id="5" name="Shape 3"/>
          <p:cNvSpPr/>
          <p:nvPr/>
        </p:nvSpPr>
        <p:spPr>
          <a:xfrm>
            <a:off x="713232" y="1764792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17647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1600200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delivery_delay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2514600"/>
            <a:ext cx="5486400" cy="777240"/>
          </a:xfrm>
          <a:prstGeom prst="roundRect">
            <a:avLst>
              <a:gd name="adj" fmla="val 7059"/>
            </a:avLst>
          </a:prstGeom>
          <a:solidFill>
            <a:srgbClr val="F2F7FA"/>
          </a:solidFill>
          <a:ln/>
        </p:spPr>
      </p:sp>
      <p:sp>
        <p:nvSpPr>
          <p:cNvPr id="9" name="Shape 7"/>
          <p:cNvSpPr/>
          <p:nvPr/>
        </p:nvSpPr>
        <p:spPr>
          <a:xfrm>
            <a:off x="713232" y="2679192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713232" y="26791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71600" y="2514600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shipping_cost_per_unit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48640" y="3429000"/>
            <a:ext cx="5486400" cy="777240"/>
          </a:xfrm>
          <a:prstGeom prst="roundRect">
            <a:avLst>
              <a:gd name="adj" fmla="val 7059"/>
            </a:avLst>
          </a:prstGeom>
          <a:solidFill>
            <a:srgbClr val="F2F7FA"/>
          </a:solidFill>
          <a:ln/>
        </p:spPr>
      </p:sp>
      <p:sp>
        <p:nvSpPr>
          <p:cNvPr id="13" name="Shape 11"/>
          <p:cNvSpPr/>
          <p:nvPr/>
        </p:nvSpPr>
        <p:spPr>
          <a:xfrm>
            <a:off x="713232" y="3593592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713232" y="35935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71600" y="3429000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route_efficiency_score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48640" y="4343400"/>
            <a:ext cx="5486400" cy="777240"/>
          </a:xfrm>
          <a:prstGeom prst="roundRect">
            <a:avLst>
              <a:gd name="adj" fmla="val 7059"/>
            </a:avLst>
          </a:prstGeom>
          <a:solidFill>
            <a:srgbClr val="F2F7FA"/>
          </a:solidFill>
          <a:ln/>
        </p:spPr>
      </p:sp>
      <p:sp>
        <p:nvSpPr>
          <p:cNvPr id="17" name="Shape 15"/>
          <p:cNvSpPr/>
          <p:nvPr/>
        </p:nvSpPr>
        <p:spPr>
          <a:xfrm>
            <a:off x="713232" y="4507992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713232" y="45079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71600" y="4343400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carrier_performance_score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548640" y="5257800"/>
            <a:ext cx="5486400" cy="777240"/>
          </a:xfrm>
          <a:prstGeom prst="roundRect">
            <a:avLst>
              <a:gd name="adj" fmla="val 7059"/>
            </a:avLst>
          </a:prstGeom>
          <a:solidFill>
            <a:srgbClr val="F2F7FA"/>
          </a:solidFill>
          <a:ln/>
        </p:spPr>
      </p:sp>
      <p:sp>
        <p:nvSpPr>
          <p:cNvPr id="21" name="Shape 19"/>
          <p:cNvSpPr/>
          <p:nvPr/>
        </p:nvSpPr>
        <p:spPr>
          <a:xfrm>
            <a:off x="713232" y="5422392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2" name="Text 20"/>
          <p:cNvSpPr/>
          <p:nvPr/>
        </p:nvSpPr>
        <p:spPr>
          <a:xfrm>
            <a:off x="713232" y="54223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371600" y="5257800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seasonal_demand_index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6355080" y="1600200"/>
            <a:ext cx="5486400" cy="777240"/>
          </a:xfrm>
          <a:prstGeom prst="roundRect">
            <a:avLst>
              <a:gd name="adj" fmla="val 7059"/>
            </a:avLst>
          </a:prstGeom>
          <a:solidFill>
            <a:srgbClr val="F2F7FA"/>
          </a:solidFill>
          <a:ln/>
        </p:spPr>
      </p:sp>
      <p:sp>
        <p:nvSpPr>
          <p:cNvPr id="25" name="Shape 23"/>
          <p:cNvSpPr/>
          <p:nvPr/>
        </p:nvSpPr>
        <p:spPr>
          <a:xfrm>
            <a:off x="6519672" y="1764792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6" name="Text 24"/>
          <p:cNvSpPr/>
          <p:nvPr/>
        </p:nvSpPr>
        <p:spPr>
          <a:xfrm>
            <a:off x="6519672" y="17647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178040" y="1600200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distance_category</a:t>
            </a:r>
            <a:endParaRPr lang="en-US" sz="1450" dirty="0"/>
          </a:p>
        </p:txBody>
      </p:sp>
      <p:sp>
        <p:nvSpPr>
          <p:cNvPr id="28" name="Shape 26"/>
          <p:cNvSpPr/>
          <p:nvPr/>
        </p:nvSpPr>
        <p:spPr>
          <a:xfrm>
            <a:off x="6355080" y="2514600"/>
            <a:ext cx="5486400" cy="777240"/>
          </a:xfrm>
          <a:prstGeom prst="roundRect">
            <a:avLst>
              <a:gd name="adj" fmla="val 7059"/>
            </a:avLst>
          </a:prstGeom>
          <a:solidFill>
            <a:srgbClr val="F2F7FA"/>
          </a:solidFill>
          <a:ln/>
        </p:spPr>
      </p:sp>
      <p:sp>
        <p:nvSpPr>
          <p:cNvPr id="29" name="Shape 27"/>
          <p:cNvSpPr/>
          <p:nvPr/>
        </p:nvSpPr>
        <p:spPr>
          <a:xfrm>
            <a:off x="6519672" y="2679192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0" name="Text 28"/>
          <p:cNvSpPr/>
          <p:nvPr/>
        </p:nvSpPr>
        <p:spPr>
          <a:xfrm>
            <a:off x="6519672" y="26791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178040" y="2514600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warehouse_utilization</a:t>
            </a:r>
            <a:endParaRPr lang="en-US" sz="1450" dirty="0"/>
          </a:p>
        </p:txBody>
      </p:sp>
      <p:sp>
        <p:nvSpPr>
          <p:cNvPr id="32" name="Shape 30"/>
          <p:cNvSpPr/>
          <p:nvPr/>
        </p:nvSpPr>
        <p:spPr>
          <a:xfrm>
            <a:off x="6355080" y="3429000"/>
            <a:ext cx="5486400" cy="777240"/>
          </a:xfrm>
          <a:prstGeom prst="roundRect">
            <a:avLst>
              <a:gd name="adj" fmla="val 7059"/>
            </a:avLst>
          </a:prstGeom>
          <a:solidFill>
            <a:srgbClr val="F2F7FA"/>
          </a:solidFill>
          <a:ln/>
        </p:spPr>
      </p:sp>
      <p:sp>
        <p:nvSpPr>
          <p:cNvPr id="33" name="Shape 31"/>
          <p:cNvSpPr/>
          <p:nvPr/>
        </p:nvSpPr>
        <p:spPr>
          <a:xfrm>
            <a:off x="6519672" y="3593592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4" name="Text 32"/>
          <p:cNvSpPr/>
          <p:nvPr/>
        </p:nvSpPr>
        <p:spPr>
          <a:xfrm>
            <a:off x="6519672" y="35935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178040" y="3429000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inventory_turnover</a:t>
            </a:r>
            <a:endParaRPr lang="en-US" sz="1450" dirty="0"/>
          </a:p>
        </p:txBody>
      </p:sp>
      <p:sp>
        <p:nvSpPr>
          <p:cNvPr id="36" name="Shape 34"/>
          <p:cNvSpPr/>
          <p:nvPr/>
        </p:nvSpPr>
        <p:spPr>
          <a:xfrm>
            <a:off x="6355080" y="4343400"/>
            <a:ext cx="5486400" cy="777240"/>
          </a:xfrm>
          <a:prstGeom prst="roundRect">
            <a:avLst>
              <a:gd name="adj" fmla="val 7059"/>
            </a:avLst>
          </a:prstGeom>
          <a:solidFill>
            <a:srgbClr val="F2F7FA"/>
          </a:solidFill>
          <a:ln/>
        </p:spPr>
      </p:sp>
      <p:sp>
        <p:nvSpPr>
          <p:cNvPr id="37" name="Shape 35"/>
          <p:cNvSpPr/>
          <p:nvPr/>
        </p:nvSpPr>
        <p:spPr>
          <a:xfrm>
            <a:off x="6519672" y="4507992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8" name="Text 36"/>
          <p:cNvSpPr/>
          <p:nvPr/>
        </p:nvSpPr>
        <p:spPr>
          <a:xfrm>
            <a:off x="6519672" y="45079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7178040" y="4343400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reorder_risk_score</a:t>
            </a:r>
            <a:endParaRPr lang="en-US" sz="1450" dirty="0"/>
          </a:p>
        </p:txBody>
      </p:sp>
      <p:sp>
        <p:nvSpPr>
          <p:cNvPr id="40" name="Shape 38"/>
          <p:cNvSpPr/>
          <p:nvPr/>
        </p:nvSpPr>
        <p:spPr>
          <a:xfrm>
            <a:off x="6355080" y="5257800"/>
            <a:ext cx="5486400" cy="777240"/>
          </a:xfrm>
          <a:prstGeom prst="roundRect">
            <a:avLst>
              <a:gd name="adj" fmla="val 7059"/>
            </a:avLst>
          </a:prstGeom>
          <a:solidFill>
            <a:srgbClr val="F2F7FA"/>
          </a:solidFill>
          <a:ln/>
        </p:spPr>
      </p:sp>
      <p:sp>
        <p:nvSpPr>
          <p:cNvPr id="41" name="Shape 39"/>
          <p:cNvSpPr/>
          <p:nvPr/>
        </p:nvSpPr>
        <p:spPr>
          <a:xfrm>
            <a:off x="6519672" y="5422392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2" name="Text 40"/>
          <p:cNvSpPr/>
          <p:nvPr/>
        </p:nvSpPr>
        <p:spPr>
          <a:xfrm>
            <a:off x="6519672" y="54223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7178040" y="5257800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shipment_size_category</a:t>
            </a:r>
            <a:endParaRPr lang="en-US" sz="1450" dirty="0"/>
          </a:p>
        </p:txBody>
      </p:sp>
      <p:sp>
        <p:nvSpPr>
          <p:cNvPr id="44" name="Text 42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2 · Supply Chain Logistics Pipeline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Great Expectations: 21/21 checks pass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60350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Uniqueness &amp; null checks, categorical set membership, numeric range checks (price, cost, coordinates, distance, delivery time), regex format validation, and range checks on every [0,1]-bounded engineered score.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3749040"/>
            <a:ext cx="60350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9F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Cross-checked independently: carrier on-time ranking from the cleaned orders data agrees with the shipping API's own carrier-performance endpoint.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589520" y="1691640"/>
            <a:ext cx="3657600" cy="3657600"/>
          </a:xfrm>
          <a:prstGeom prst="ellipse">
            <a:avLst/>
          </a:prstGeom>
          <a:solidFill>
            <a:srgbClr val="065A82"/>
          </a:solidFill>
          <a:ln w="381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0" y="288036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7589520" y="37947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suite pass rate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2 · Supply Chain Logistics Pipeline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Airflow DAG, seven tasks, verified end-to-end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F2F7F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91640"/>
            <a:ext cx="11064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extract  →  store  →  clean  →  engineer  →  validate  →  spark  →  ml_ready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3063240"/>
            <a:ext cx="5349240" cy="1325880"/>
          </a:xfrm>
          <a:prstGeom prst="roundRect">
            <a:avLst>
              <a:gd name="adj" fmla="val 5517"/>
            </a:avLst>
          </a:prstGeom>
          <a:solidFill>
            <a:srgbClr val="F2F7FA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32004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3566160"/>
            <a:ext cx="48463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@ 02:00 UTC, catchup off, max 1 concurrent run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72200" y="3063240"/>
            <a:ext cx="5349240" cy="1325880"/>
          </a:xfrm>
          <a:prstGeom prst="roundRect">
            <a:avLst>
              <a:gd name="adj" fmla="val 5517"/>
            </a:avLst>
          </a:prstGeom>
          <a:solidFill>
            <a:srgbClr val="F2F7FA"/>
          </a:solidFill>
          <a:ln/>
        </p:spPr>
      </p:sp>
      <p:sp>
        <p:nvSpPr>
          <p:cNvPr id="10" name="Text 8"/>
          <p:cNvSpPr/>
          <p:nvPr/>
        </p:nvSpPr>
        <p:spPr>
          <a:xfrm>
            <a:off x="6446520" y="32004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46520" y="3566160"/>
            <a:ext cx="48463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2x with exponential backoff (3–15 min)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4617720"/>
            <a:ext cx="5349240" cy="1325880"/>
          </a:xfrm>
          <a:prstGeom prst="roundRect">
            <a:avLst>
              <a:gd name="adj" fmla="val 5517"/>
            </a:avLst>
          </a:prstGeom>
          <a:solidFill>
            <a:srgbClr val="F2F7FA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47548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gate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22960" y="5120640"/>
            <a:ext cx="48463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Fails the run if &lt;90% of GX checks pass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172200" y="4617720"/>
            <a:ext cx="5349240" cy="1325880"/>
          </a:xfrm>
          <a:prstGeom prst="roundRect">
            <a:avLst>
              <a:gd name="adj" fmla="val 5517"/>
            </a:avLst>
          </a:prstGeom>
          <a:solidFill>
            <a:srgbClr val="F2F7FA"/>
          </a:solidFill>
          <a:ln/>
        </p:spPr>
      </p:sp>
      <p:sp>
        <p:nvSpPr>
          <p:cNvPr id="16" name="Text 14"/>
          <p:cNvSpPr/>
          <p:nvPr/>
        </p:nvSpPr>
        <p:spPr>
          <a:xfrm>
            <a:off x="6446520" y="47548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46520" y="5120640"/>
            <a:ext cx="48463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`airflow dags test` → DagRun Finished, state=success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2 · Supply Chain Logistics Pipeline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VERSIONING &amp; REPRODUCIBILITY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dataset is versioned, every step is reproducible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164592" cy="164592"/>
          </a:xfrm>
          <a:prstGeom prst="ellipse">
            <a:avLst/>
          </a:prstGeom>
          <a:solidFill>
            <a:srgbClr val="1E8E5A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691640"/>
            <a:ext cx="53949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DVC-tracked: raw CSV, SQLite DB, cleaned &amp; feature-engineered Parquet, ML-ready train/test splits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2834640"/>
            <a:ext cx="164592" cy="164592"/>
          </a:xfrm>
          <a:prstGeom prst="ellipse">
            <a:avLst/>
          </a:prstGeom>
          <a:solidFill>
            <a:srgbClr val="1E8E5A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651760"/>
            <a:ext cx="53949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remote configured; `dvc push` / `dvc checkout` restore any historical version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3794760"/>
            <a:ext cx="164592" cy="164592"/>
          </a:xfrm>
          <a:prstGeom prst="ellipse">
            <a:avLst/>
          </a:prstGeom>
          <a:solidFill>
            <a:srgbClr val="1E8E5A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3611880"/>
            <a:ext cx="53949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committed versions (v1, v2) across the git history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92240" y="1691640"/>
            <a:ext cx="5120640" cy="4389120"/>
          </a:xfrm>
          <a:prstGeom prst="roundRect">
            <a:avLst>
              <a:gd name="adj" fmla="val 2083"/>
            </a:avLst>
          </a:prstGeom>
          <a:solidFill>
            <a:srgbClr val="F2F7FA"/>
          </a:solidFill>
          <a:ln/>
        </p:spPr>
      </p:sp>
      <p:sp>
        <p:nvSpPr>
          <p:cNvPr id="11" name="Text 9"/>
          <p:cNvSpPr/>
          <p:nvPr/>
        </p:nvSpPr>
        <p:spPr>
          <a:xfrm>
            <a:off x="6766560" y="1920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reproduction guide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766560" y="2377440"/>
            <a:ext cx="45720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6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-m venv venv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6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-r requirements.txt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6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-m src.ingestion.generate_seed_dataset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6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-m src.ingestion.shipping_api_server &amp;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6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 (full 7-stage pipeline)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6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airflow dags test supply_chain_logistics_pipeline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2 · Supply Chain Logistics Pipeline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ML-ready dataset for delivery-delay prediction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103,548 rows  ·  82,840 train / 20,708 test  ·  22 features  ·  2 targets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2011680"/>
          <a:ext cx="512064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6035040" y="2011680"/>
          <a:ext cx="557784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 3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2 · Supply Chain Logistics Pipeline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delay risk actually concentrates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45920"/>
          <a:ext cx="54864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6309360" y="1645920"/>
          <a:ext cx="530352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 2"/>
          <p:cNvSpPr/>
          <p:nvPr/>
        </p:nvSpPr>
        <p:spPr>
          <a:xfrm>
            <a:off x="548640" y="589788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Counter-intuitively, Local shipments have the highest average delay — international shipments carry more schedule buffer that absorbs the same variability.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2 · Supply Chain Logistics Pipeline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DASHBOARD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self-contained, interactive dashboard</a:t>
            </a:r>
            <a:endParaRPr lang="en-US" sz="3200" dirty="0"/>
          </a:p>
        </p:txBody>
      </p:sp>
      <p:pic>
        <p:nvPicPr>
          <p:cNvPr id="4" name="Image 0" descr="/home/claude/supply-chain-pipeline/docs/diagrams/dashboard_screenshot.png">    </p:cNvPr>
          <p:cNvPicPr>
            <a:picLocks noChangeAspect="1"/>
          </p:cNvPicPr>
          <p:nvPr/>
        </p:nvPicPr>
        <p:blipFill>
          <a:blip r:embed="rId1"/>
          <a:srcRect l="-8036" r="-8036" t="0" b="0"/>
          <a:stretch/>
        </p:blipFill>
        <p:spPr>
          <a:xfrm>
            <a:off x="3108960" y="1417320"/>
            <a:ext cx="5943600" cy="5120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2 · Supply Chain Logistics Pipeline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got in the way — and how it was resolved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932688"/>
          </a:xfrm>
          <a:prstGeom prst="roundRect">
            <a:avLst>
              <a:gd name="adj" fmla="val 5882"/>
            </a:avLst>
          </a:prstGeom>
          <a:solidFill>
            <a:srgbClr val="F2F7FA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91640"/>
            <a:ext cx="493776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live Kaggle API access in the build sandbox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989320" y="1801368"/>
            <a:ext cx="0" cy="713232"/>
          </a:xfrm>
          <a:prstGeom prst="line">
            <a:avLst/>
          </a:prstGeom>
          <a:noFill/>
          <a:ln w="12700">
            <a:solidFill>
              <a:srgbClr val="D3DE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63640" y="1691640"/>
            <a:ext cx="521208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a schema-faithful, seeded synthetic dataset; documented a one-file swap-in for real Kaggle data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788920"/>
            <a:ext cx="11064240" cy="932688"/>
          </a:xfrm>
          <a:prstGeom prst="roundRect">
            <a:avLst>
              <a:gd name="adj" fmla="val 5882"/>
            </a:avLst>
          </a:prstGeom>
          <a:solidFill>
            <a:srgbClr val="F2F7FA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788920"/>
            <a:ext cx="493776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Flask/Airflow dependency conflict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989320" y="2898648"/>
            <a:ext cx="0" cy="713232"/>
          </a:xfrm>
          <a:prstGeom prst="line">
            <a:avLst/>
          </a:prstGeom>
          <a:noFill/>
          <a:ln w="12700">
            <a:solidFill>
              <a:srgbClr val="D3DE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63640" y="2788920"/>
            <a:ext cx="521208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Pinned Flask to the version in Airflow's official constraints file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886200"/>
            <a:ext cx="11064240" cy="932688"/>
          </a:xfrm>
          <a:prstGeom prst="roundRect">
            <a:avLst>
              <a:gd name="adj" fmla="val 5882"/>
            </a:avLst>
          </a:prstGeom>
          <a:solidFill>
            <a:srgbClr val="F2F7FA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886200"/>
            <a:ext cx="493776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Expectations 1.x Fluent API differs from older docs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989320" y="3995928"/>
            <a:ext cx="0" cy="713232"/>
          </a:xfrm>
          <a:prstGeom prst="line">
            <a:avLst/>
          </a:prstGeom>
          <a:noFill/>
          <a:ln w="12700">
            <a:solidFill>
              <a:srgbClr val="D3DE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63640" y="3886200"/>
            <a:ext cx="521208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and tested against the actual installed 1.20 API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983480"/>
            <a:ext cx="11064240" cy="932688"/>
          </a:xfrm>
          <a:prstGeom prst="roundRect">
            <a:avLst>
              <a:gd name="adj" fmla="val 5882"/>
            </a:avLst>
          </a:prstGeom>
          <a:solidFill>
            <a:srgbClr val="F2F7FA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983480"/>
            <a:ext cx="493776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PySpark 4.2 / pandas 3.x compatibility warning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989320" y="5093208"/>
            <a:ext cx="0" cy="713232"/>
          </a:xfrm>
          <a:prstGeom prst="line">
            <a:avLst/>
          </a:prstGeom>
          <a:noFill/>
          <a:ln w="12700">
            <a:solidFill>
              <a:srgbClr val="D3DEE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63640" y="4983480"/>
            <a:ext cx="521208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correctness in testing; flagged for monitoring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2 · Supply Chain Logistics Pipeline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this goes next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83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34440" y="1737360"/>
            <a:ext cx="10241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in a real Kaggle/UCI/Zenodo dataset once credentials are available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624328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6243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34440" y="2578608"/>
            <a:ext cx="10241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&amp; evaluate delivery-delay models on the ML-ready dataset produced here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465576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46557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34440" y="3419856"/>
            <a:ext cx="10241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to AWS/GCP/Azure (cloud bonus): managed Airflow, cloud DVC remote, warehouse-native analytics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306824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30682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34440" y="4261104"/>
            <a:ext cx="10241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the simulated carrier API with a real carrier/aggregator API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5148072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51480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34440" y="5102352"/>
            <a:ext cx="10241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data-drift monitoring alongside the existing Great Expectations checks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2 · Supply Chain Logistics Pipeline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114800"/>
            <a:ext cx="6400800" cy="6400800"/>
          </a:xfrm>
          <a:prstGeom prst="ellipse">
            <a:avLst/>
          </a:prstGeom>
          <a:solidFill>
            <a:srgbClr val="065A82">
              <a:alpha val="6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complete, verified data engineering pipeline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96596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Core Requirement in the assessment brief implemented and tested, not scaffolded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3017520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83464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103,548-row ML-ready dataset, 100% data-quality pass rate, a working Airflow DAG, and DVC-versioned data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886200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370332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documentation: architecture diagram, data dictionary, reproduction guide, and this report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48640" y="53949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— Questions?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2 · Supply Chain Logistics Pipeline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2026-08-15T08:42:29Z</dcterms:created>
  <dcterms:modified xsi:type="dcterms:W3CDTF">2026-08-15T08:42:29Z</dcterms:modified>
</cp:coreProperties>
</file>